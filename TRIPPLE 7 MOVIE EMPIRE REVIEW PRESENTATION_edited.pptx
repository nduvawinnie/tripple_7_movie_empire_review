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5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Codec Pro" panose="020B0604020202020204" charset="0"/>
      <p:regular r:id="rId16"/>
    </p:embeddedFont>
    <p:embeddedFont>
      <p:font typeface="Codec Pr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971800"/>
            <a:ext cx="16230600" cy="162306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3935" y="-1386565"/>
            <a:ext cx="13060129" cy="130601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90693" y="290193"/>
            <a:ext cx="9706614" cy="97066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40914" y="4164359"/>
            <a:ext cx="1946042" cy="1958281"/>
          </a:xfrm>
          <a:custGeom>
            <a:avLst/>
            <a:gdLst/>
            <a:ahLst/>
            <a:cxnLst/>
            <a:rect l="l" t="t" r="r" b="b"/>
            <a:pathLst>
              <a:path w="1946042" h="1958281">
                <a:moveTo>
                  <a:pt x="0" y="0"/>
                </a:moveTo>
                <a:lnTo>
                  <a:pt x="1946042" y="0"/>
                </a:lnTo>
                <a:lnTo>
                  <a:pt x="1946042" y="1958282"/>
                </a:lnTo>
                <a:lnTo>
                  <a:pt x="0" y="195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368578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431536" y="7480212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919422" y="962025"/>
            <a:ext cx="10449156" cy="733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37"/>
              </a:lnSpc>
            </a:pPr>
            <a:r>
              <a:rPr lang="en-US" sz="8000" b="1" spc="-32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 Movie Empire</a:t>
            </a:r>
          </a:p>
          <a:p>
            <a:pPr algn="ctr">
              <a:lnSpc>
                <a:spcPts val="14337"/>
              </a:lnSpc>
            </a:pPr>
            <a:r>
              <a:rPr lang="en-US" sz="8000" b="1" spc="-32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Review</a:t>
            </a:r>
          </a:p>
          <a:p>
            <a:pPr algn="ctr">
              <a:lnSpc>
                <a:spcPts val="14337"/>
              </a:lnSpc>
            </a:pPr>
            <a:r>
              <a:rPr lang="en-US" sz="4000" b="1" spc="-32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By Group 7</a:t>
            </a:r>
          </a:p>
          <a:p>
            <a:pPr algn="ctr">
              <a:lnSpc>
                <a:spcPts val="14337"/>
              </a:lnSpc>
            </a:pPr>
            <a:endParaRPr lang="en-US" sz="13034" b="1" spc="-32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69220" y="7987581"/>
            <a:ext cx="294956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spc="-8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AVERY DAVIS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94027" y="-1389563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Business Understanding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90269"/>
            <a:ext cx="713309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Business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164213"/>
            <a:ext cx="7933780" cy="6835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967" lvl="1" indent="-317983" algn="l">
              <a:lnSpc>
                <a:spcPts val="412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Tripple 7 wants to enter the movie industry</a:t>
            </a:r>
          </a:p>
          <a:p>
            <a:pPr marL="635967" lvl="1" indent="-317983" algn="l">
              <a:lnSpc>
                <a:spcPts val="412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It lacks knowledge of what makes movies successful</a:t>
            </a:r>
          </a:p>
          <a:p>
            <a:pPr marL="635967" lvl="1" indent="-317983" algn="l">
              <a:lnSpc>
                <a:spcPts val="412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This is a high risk of financial loss without data insights</a:t>
            </a:r>
          </a:p>
          <a:p>
            <a:pPr algn="l">
              <a:lnSpc>
                <a:spcPts val="412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algn="l">
              <a:lnSpc>
                <a:spcPts val="4123"/>
              </a:lnSpc>
            </a:pPr>
            <a:r>
              <a:rPr lang="en-US" sz="4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Why this matters:</a:t>
            </a:r>
          </a:p>
          <a:p>
            <a:pPr marL="635967" lvl="1" indent="-317983" algn="l">
              <a:lnSpc>
                <a:spcPts val="412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Poor investment decisions could lead to major losses</a:t>
            </a:r>
          </a:p>
          <a:p>
            <a:pPr algn="l">
              <a:lnSpc>
                <a:spcPts val="412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algn="l">
              <a:lnSpc>
                <a:spcPts val="412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algn="l">
              <a:lnSpc>
                <a:spcPts val="412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Project Objectives and Questions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90269"/>
            <a:ext cx="713309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Objectives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11193" y="3690269"/>
            <a:ext cx="484810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64213"/>
            <a:ext cx="7933780" cy="447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352" lvl="1" indent="-339676">
              <a:lnSpc>
                <a:spcPts val="4405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To determine the movie genres that are the most profitable.</a:t>
            </a:r>
          </a:p>
          <a:p>
            <a:pPr marL="679352" lvl="1" indent="-339676">
              <a:lnSpc>
                <a:spcPts val="4405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To determine the best time to release a movie for maximum returns.</a:t>
            </a:r>
          </a:p>
          <a:p>
            <a:pPr marL="679352" lvl="1" indent="-339676">
              <a:lnSpc>
                <a:spcPts val="4405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To determine whether higher-rated movies generate more revenue.</a:t>
            </a:r>
          </a:p>
          <a:p>
            <a:pPr>
              <a:lnSpc>
                <a:spcPts val="412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71097" y="4154688"/>
            <a:ext cx="8475002" cy="425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movie genres are the most profitable?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is the best time to release a movie for maximum returns?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higher-rated movies generate more revenue?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.</a:t>
            </a:r>
          </a:p>
          <a:p>
            <a:pPr marL="457200" indent="-457200" algn="r">
              <a:lnSpc>
                <a:spcPts val="4405"/>
              </a:lnSpc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3912" y="2315203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145163"/>
            <a:ext cx="7933780" cy="701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5504" lvl="1" indent="-382752" algn="l">
              <a:lnSpc>
                <a:spcPts val="496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We agreed to use two key datasets as they were the most relevant to answering our research questions:</a:t>
            </a:r>
          </a:p>
          <a:p>
            <a:pPr marL="765504" lvl="1" indent="-382752" algn="l">
              <a:lnSpc>
                <a:spcPts val="4963"/>
              </a:lnSpc>
              <a:buAutoNum type="arabicPeriod"/>
            </a:pP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TMDb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dataset (tmdb.movies.csv)</a:t>
            </a:r>
          </a:p>
          <a:p>
            <a:pPr algn="l">
              <a:lnSpc>
                <a:spcPts val="4963"/>
              </a:lnSpc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as it Provides movie details (genres, ratings, popularity)</a:t>
            </a:r>
          </a:p>
          <a:p>
            <a:pPr marL="765504" lvl="1" indent="-382752" algn="l">
              <a:lnSpc>
                <a:spcPts val="4963"/>
              </a:lnSpc>
              <a:buAutoNum type="arabicPeriod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The Numbers dataset (tn.movie_budgets.csv)</a:t>
            </a:r>
          </a:p>
          <a:p>
            <a:pPr algn="l">
              <a:lnSpc>
                <a:spcPts val="4963"/>
              </a:lnSpc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as it Provides financial data (budget, revenue)</a:t>
            </a:r>
          </a:p>
          <a:p>
            <a:pPr algn="l">
              <a:lnSpc>
                <a:spcPts val="496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899" y="738774"/>
            <a:ext cx="18693799" cy="8809453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15055" y="3240759"/>
            <a:ext cx="10857890" cy="410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2316 movies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Key variables: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Genre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Budget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Domestic &amp; worldwide revenue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Ratings</a:t>
            </a:r>
          </a:p>
          <a:p>
            <a:pPr algn="ctr">
              <a:lnSpc>
                <a:spcPts val="4612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9" name="AutoShape 9"/>
          <p:cNvSpPr/>
          <p:nvPr/>
        </p:nvSpPr>
        <p:spPr>
          <a:xfrm>
            <a:off x="13851816" y="9136697"/>
            <a:ext cx="721129" cy="0"/>
          </a:xfrm>
          <a:prstGeom prst="line">
            <a:avLst/>
          </a:prstGeom>
          <a:ln w="3810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4615755" y="82296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Understanding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Understanding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90269"/>
            <a:ext cx="713309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What we did: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11193" y="3690269"/>
            <a:ext cx="484810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Why we did this: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54688"/>
            <a:ext cx="7933780" cy="451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Merged </a:t>
            </a: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TMDb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+ The Numbers datasets</a:t>
            </a:r>
          </a:p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Joined using:</a:t>
            </a:r>
          </a:p>
          <a:p>
            <a:pPr algn="l">
              <a:lnSpc>
                <a:spcPts val="4403"/>
              </a:lnSpc>
            </a:pP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original_title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(</a:t>
            </a: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TMDb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) and movie (The Numbers)</a:t>
            </a:r>
          </a:p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Result:</a:t>
            </a:r>
          </a:p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Final dataset: 2316 movies</a:t>
            </a:r>
          </a:p>
          <a:p>
            <a:pPr algn="l">
              <a:lnSpc>
                <a:spcPts val="440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71097" y="4154688"/>
            <a:ext cx="8475002" cy="356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351" lvl="1" indent="-339676" algn="r">
              <a:lnSpc>
                <a:spcPts val="4405"/>
              </a:lnSpc>
              <a:buFont typeface="Arial"/>
              <a:buChar char="•"/>
            </a:pP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TMDb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gives ratings &amp; genres</a:t>
            </a:r>
          </a:p>
          <a:p>
            <a:pPr marL="679351" lvl="1" indent="-339676" algn="r">
              <a:lnSpc>
                <a:spcPts val="4405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The Numbers gives financial performance</a:t>
            </a:r>
          </a:p>
          <a:p>
            <a:pPr marL="787299" lvl="1" indent="-393649" algn="r">
              <a:lnSpc>
                <a:spcPts val="5105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Combining them allows us to answer our research questions.</a:t>
            </a:r>
          </a:p>
          <a:p>
            <a:pPr algn="r">
              <a:lnSpc>
                <a:spcPts val="4405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2E2A8-C116-44FD-94D4-99BD26AB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E7D9B0-890B-D78C-D557-6B791DC66B7C}"/>
              </a:ext>
            </a:extLst>
          </p:cNvPr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6694EE4-3323-8AE0-514A-8D7A4858A433}"/>
              </a:ext>
            </a:extLst>
          </p:cNvPr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A5756DC-1754-9773-8C1B-F6BC1AFBE0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40A917E-3058-7FE7-7E28-213452673ADB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FEA17F7-CA29-63D2-46F6-5FEBC4851151}"/>
              </a:ext>
            </a:extLst>
          </p:cNvPr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ED13081-D85C-3931-8D49-E404DDC0B829}"/>
                </a:ext>
              </a:extLst>
            </p:cNvPr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25B2491-3E66-B396-B577-DB3B24F28BBC}"/>
                </a:ext>
              </a:extLst>
            </p:cNvPr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79A9D80-8F21-E6F5-86D9-8729A785F200}"/>
              </a:ext>
            </a:extLst>
          </p:cNvPr>
          <p:cNvSpPr/>
          <p:nvPr/>
        </p:nvSpPr>
        <p:spPr>
          <a:xfrm>
            <a:off x="233422" y="8380024"/>
            <a:ext cx="10430924" cy="1661477"/>
          </a:xfrm>
          <a:custGeom>
            <a:avLst/>
            <a:gdLst/>
            <a:ahLst/>
            <a:cxnLst/>
            <a:rect l="l" t="t" r="r" b="b"/>
            <a:pathLst>
              <a:path w="10430924" h="1661477">
                <a:moveTo>
                  <a:pt x="0" y="0"/>
                </a:moveTo>
                <a:lnTo>
                  <a:pt x="10430924" y="0"/>
                </a:lnTo>
                <a:lnTo>
                  <a:pt x="10430924" y="1661477"/>
                </a:lnTo>
                <a:lnTo>
                  <a:pt x="0" y="1661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5428"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332C151-9A6D-280A-F69D-FFFA43EAFB84}"/>
              </a:ext>
            </a:extLst>
          </p:cNvPr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C36E14C-E5E7-0897-274D-E037B6ACD37C}"/>
              </a:ext>
            </a:extLst>
          </p:cNvPr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09806A4-AF8E-733C-2047-D9AB92DD0C46}"/>
              </a:ext>
            </a:extLst>
          </p:cNvPr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A720D67-5BDC-7E28-22E7-9451641EFE07}"/>
              </a:ext>
            </a:extLst>
          </p:cNvPr>
          <p:cNvSpPr txBox="1"/>
          <p:nvPr/>
        </p:nvSpPr>
        <p:spPr>
          <a:xfrm>
            <a:off x="622258" y="1425572"/>
            <a:ext cx="5660989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6000" b="1" spc="-143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Understanding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0AB3F0D-BF1E-35DD-C9F1-A917CD6058AC}"/>
              </a:ext>
            </a:extLst>
          </p:cNvPr>
          <p:cNvSpPr txBox="1"/>
          <p:nvPr/>
        </p:nvSpPr>
        <p:spPr>
          <a:xfrm>
            <a:off x="622258" y="3225405"/>
            <a:ext cx="5262138" cy="437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4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Top 10 Movie Genres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8BC2315-EC3D-BB99-59D1-C1F0421AD540}"/>
              </a:ext>
            </a:extLst>
          </p:cNvPr>
          <p:cNvSpPr txBox="1"/>
          <p:nvPr/>
        </p:nvSpPr>
        <p:spPr>
          <a:xfrm>
            <a:off x="101856" y="3781385"/>
            <a:ext cx="6519053" cy="1851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After analysis of the top 10 movie genres, the top most movie genre was drama, and the last was Romance.</a:t>
            </a:r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432412D-4F56-F5E8-199F-DC2BB1E3E0CF}"/>
              </a:ext>
            </a:extLst>
          </p:cNvPr>
          <p:cNvGrpSpPr/>
          <p:nvPr/>
        </p:nvGrpSpPr>
        <p:grpSpPr>
          <a:xfrm>
            <a:off x="11688455" y="6223375"/>
            <a:ext cx="5295031" cy="2525158"/>
            <a:chOff x="0" y="0"/>
            <a:chExt cx="1394576" cy="665062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A5EBD49-FFB9-9C3C-3741-C76FC7694850}"/>
                </a:ext>
              </a:extLst>
            </p:cNvPr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26EE588-59B3-E295-1B58-788AF6C3636B}"/>
                </a:ext>
              </a:extLst>
            </p:cNvPr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E11CBC2-CE89-CA0C-9FFE-8E5635E18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5606" y="1688921"/>
            <a:ext cx="8027994" cy="525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7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Preparation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690269"/>
            <a:ext cx="713309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Data Cleaning &amp; Preparation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11193" y="3690269"/>
            <a:ext cx="4848107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Feature Engineering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154688"/>
            <a:ext cx="7933780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Converted revenue columns from text to numeric </a:t>
            </a:r>
          </a:p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Checked for missing values, where none was found</a:t>
            </a:r>
          </a:p>
          <a:p>
            <a:pPr marL="679146" lvl="1" indent="-339573" algn="l">
              <a:lnSpc>
                <a:spcPts val="4403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Removed duplicates</a:t>
            </a:r>
          </a:p>
          <a:p>
            <a:pPr algn="l">
              <a:lnSpc>
                <a:spcPts val="4403"/>
              </a:lnSpc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71097" y="4217318"/>
            <a:ext cx="8335868" cy="3257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198" lvl="1" indent="-334099" algn="r">
              <a:lnSpc>
                <a:spcPts val="4332"/>
              </a:lnSpc>
              <a:buFont typeface="Arial"/>
              <a:buChar char="•"/>
            </a:pPr>
            <a:r>
              <a:rPr lang="en-US" sz="4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Created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:</a:t>
            </a:r>
          </a:p>
          <a:p>
            <a:pPr marL="625019" lvl="1" indent="-312510" algn="r">
              <a:lnSpc>
                <a:spcPts val="4052"/>
              </a:lnSpc>
              <a:buFont typeface="Arial"/>
              <a:buChar char="•"/>
            </a:pP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total_profit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= </a:t>
            </a: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worldwide_gross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-</a:t>
            </a: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production_budget</a:t>
            </a: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marL="668198" lvl="1" indent="-334099" algn="r">
              <a:lnSpc>
                <a:spcPts val="4332"/>
              </a:lnSpc>
              <a:buFont typeface="Arial"/>
              <a:buChar char="•"/>
            </a:pPr>
            <a:r>
              <a:rPr lang="en-US" sz="4000" dirty="0" err="1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release_year</a:t>
            </a: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from date</a:t>
            </a:r>
          </a:p>
          <a:p>
            <a:pPr marL="668198" lvl="1" indent="-334099" algn="r">
              <a:lnSpc>
                <a:spcPts val="4332"/>
              </a:lnSpc>
              <a:buFont typeface="Arial"/>
              <a:buChar char="•"/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Genre mapping (IDs → names)</a:t>
            </a:r>
          </a:p>
          <a:p>
            <a:pPr marL="668198" lvl="1" indent="-334099" algn="r">
              <a:lnSpc>
                <a:spcPts val="4332"/>
              </a:lnSpc>
              <a:buFont typeface="Arial"/>
              <a:buChar char="•"/>
            </a:pPr>
            <a:endParaRPr lang="en-US" sz="40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3422" y="8380024"/>
            <a:ext cx="10430924" cy="1661477"/>
          </a:xfrm>
          <a:custGeom>
            <a:avLst/>
            <a:gdLst/>
            <a:ahLst/>
            <a:cxnLst/>
            <a:rect l="l" t="t" r="r" b="b"/>
            <a:pathLst>
              <a:path w="10430924" h="1661477">
                <a:moveTo>
                  <a:pt x="0" y="0"/>
                </a:moveTo>
                <a:lnTo>
                  <a:pt x="10430924" y="0"/>
                </a:lnTo>
                <a:lnTo>
                  <a:pt x="10430924" y="1661477"/>
                </a:lnTo>
                <a:lnTo>
                  <a:pt x="0" y="1661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542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025415" y="2149896"/>
            <a:ext cx="7782357" cy="5585476"/>
          </a:xfrm>
          <a:custGeom>
            <a:avLst/>
            <a:gdLst/>
            <a:ahLst/>
            <a:cxnLst/>
            <a:rect l="l" t="t" r="r" b="b"/>
            <a:pathLst>
              <a:path w="7782357" h="5585476">
                <a:moveTo>
                  <a:pt x="0" y="0"/>
                </a:moveTo>
                <a:lnTo>
                  <a:pt x="7782357" y="0"/>
                </a:lnTo>
                <a:lnTo>
                  <a:pt x="7782357" y="5585476"/>
                </a:lnTo>
                <a:lnTo>
                  <a:pt x="0" y="5585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674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96470"/>
            <a:ext cx="566098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6000" b="1" spc="-143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970390"/>
            <a:ext cx="526213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48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Research Question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1989" y="4456859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Top genres: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1989" y="3494897"/>
            <a:ext cx="6519053" cy="90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40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Which movie genres are most profitable?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1989" y="5067300"/>
            <a:ext cx="6519053" cy="164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8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Animation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8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Adventure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8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Fantasy</a:t>
            </a:r>
          </a:p>
          <a:p>
            <a:pPr algn="l">
              <a:lnSpc>
                <a:spcPts val="3639"/>
              </a:lnSpc>
            </a:pPr>
            <a:endParaRPr lang="en-US" sz="2800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1688455" y="6223375"/>
            <a:ext cx="5295031" cy="2525158"/>
            <a:chOff x="0" y="0"/>
            <a:chExt cx="1394576" cy="665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6946194"/>
            <a:ext cx="6519053" cy="231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Genre strongly influences profitability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High-performing genres consistently generate higher returns</a:t>
            </a: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700" y="6404154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Business Insight: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3422" y="8380024"/>
            <a:ext cx="10430924" cy="1661477"/>
          </a:xfrm>
          <a:custGeom>
            <a:avLst/>
            <a:gdLst/>
            <a:ahLst/>
            <a:cxnLst/>
            <a:rect l="l" t="t" r="r" b="b"/>
            <a:pathLst>
              <a:path w="10430924" h="1661477">
                <a:moveTo>
                  <a:pt x="0" y="0"/>
                </a:moveTo>
                <a:lnTo>
                  <a:pt x="10430924" y="0"/>
                </a:lnTo>
                <a:lnTo>
                  <a:pt x="10430924" y="1661477"/>
                </a:lnTo>
                <a:lnTo>
                  <a:pt x="0" y="1661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542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96470"/>
            <a:ext cx="566098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1" spc="-143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970390"/>
            <a:ext cx="526213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Research Question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1989" y="3560800"/>
            <a:ext cx="6519053" cy="41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When is the best time to release movies?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672247" y="6223375"/>
            <a:ext cx="5295031" cy="2525158"/>
            <a:chOff x="0" y="0"/>
            <a:chExt cx="1394576" cy="665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80291" y="4254175"/>
            <a:ext cx="6519053" cy="4341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Movies released in summer (May–July) generate the highest profits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Secondary peak occurs in holiday season (Nov–Dec)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periods align with: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 holidays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leisure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audience turnout</a:t>
            </a: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536055" y="6254044"/>
            <a:ext cx="4848107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Business Insight:</a:t>
            </a:r>
          </a:p>
          <a:p>
            <a:pPr algn="l">
              <a:lnSpc>
                <a:spcPts val="33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Releasing movies during peak seasons maximizes box office revenue and audience reach</a:t>
            </a:r>
            <a:endParaRPr lang="en-US" sz="3000" b="1" spc="-75" dirty="0">
              <a:solidFill>
                <a:srgbClr val="202020"/>
              </a:solidFill>
              <a:latin typeface="Times New Roman" panose="02020603050405020304" pitchFamily="18" charset="0"/>
              <a:ea typeface="Codec Pro Bold"/>
              <a:cs typeface="Times New Roman" panose="02020603050405020304" pitchFamily="18" charset="0"/>
              <a:sym typeface="Codec Pro Bold"/>
            </a:endParaRPr>
          </a:p>
          <a:p>
            <a:pPr algn="l">
              <a:lnSpc>
                <a:spcPts val="3300"/>
              </a:lnSpc>
            </a:pPr>
            <a:endParaRPr lang="en-US" sz="3000" b="1" spc="-75" dirty="0">
              <a:solidFill>
                <a:srgbClr val="202020"/>
              </a:solidFill>
              <a:latin typeface="Times New Roman" panose="02020603050405020304" pitchFamily="18" charset="0"/>
              <a:ea typeface="Codec Pro Bold"/>
              <a:cs typeface="Times New Roman" panose="02020603050405020304" pitchFamily="18" charset="0"/>
              <a:sym typeface="Codec Pro Bold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E2C991B-6CD1-C408-DAF1-7E453F8AD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8597" y="606568"/>
            <a:ext cx="8207120" cy="5275842"/>
          </a:xfrm>
          <a:prstGeom prst="rect">
            <a:avLst/>
          </a:prstGeom>
        </p:spPr>
      </p:pic>
      <p:sp>
        <p:nvSpPr>
          <p:cNvPr id="28" name="Rectangle 3">
            <a:extLst>
              <a:ext uri="{FF2B5EF4-FFF2-40B4-BE49-F238E27FC236}">
                <a16:creationId xmlns:a16="http://schemas.microsoft.com/office/drawing/2014/main" id="{7B95F0CD-712E-E310-87E1-21FE504C0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38600" y="-18006233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3422" y="8380024"/>
            <a:ext cx="10430924" cy="1661477"/>
          </a:xfrm>
          <a:custGeom>
            <a:avLst/>
            <a:gdLst/>
            <a:ahLst/>
            <a:cxnLst/>
            <a:rect l="l" t="t" r="r" b="b"/>
            <a:pathLst>
              <a:path w="10430924" h="1661477">
                <a:moveTo>
                  <a:pt x="0" y="0"/>
                </a:moveTo>
                <a:lnTo>
                  <a:pt x="10430924" y="0"/>
                </a:lnTo>
                <a:lnTo>
                  <a:pt x="10430924" y="1661477"/>
                </a:lnTo>
                <a:lnTo>
                  <a:pt x="0" y="1661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542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96470"/>
            <a:ext cx="566098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5729" b="1" spc="-143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970390"/>
            <a:ext cx="5262138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Research Question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1989" y="3560800"/>
            <a:ext cx="6519053" cy="86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800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Do higher-rated movies generate more revenue?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688455" y="6223375"/>
            <a:ext cx="5295031" cy="2525158"/>
            <a:chOff x="0" y="0"/>
            <a:chExt cx="1394576" cy="665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6946194"/>
            <a:ext cx="6519053" cy="8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3639"/>
              </a:lnSpc>
            </a:pPr>
            <a:endParaRPr lang="en-US" sz="2599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51793" y="4708561"/>
            <a:ext cx="4848107" cy="485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correlation between ratings and total profit (0.20)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rated movies do NOT always generate high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 (genre, release timing, marketing) have stronger impact </a:t>
            </a:r>
          </a:p>
          <a:p>
            <a:pPr algn="l">
              <a:lnSpc>
                <a:spcPts val="3300"/>
              </a:lnSpc>
            </a:pPr>
            <a:endParaRPr lang="en-US" sz="3000" b="1" spc="-75" dirty="0">
              <a:solidFill>
                <a:srgbClr val="202020"/>
              </a:solidFill>
              <a:latin typeface="Times New Roman" panose="02020603050405020304" pitchFamily="18" charset="0"/>
              <a:ea typeface="Codec Pro Bold"/>
              <a:cs typeface="Times New Roman" panose="02020603050405020304" pitchFamily="18" charset="0"/>
              <a:sym typeface="Codec Pro Bold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DDA43A-5F70-CD1B-75F0-DFD7CB2C8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5714" y="864789"/>
            <a:ext cx="9411057" cy="6025139"/>
          </a:xfrm>
          <a:prstGeom prst="rect">
            <a:avLst/>
          </a:prstGeom>
        </p:spPr>
      </p:pic>
      <p:sp>
        <p:nvSpPr>
          <p:cNvPr id="28" name="TextBox 17">
            <a:extLst>
              <a:ext uri="{FF2B5EF4-FFF2-40B4-BE49-F238E27FC236}">
                <a16:creationId xmlns:a16="http://schemas.microsoft.com/office/drawing/2014/main" id="{2CB53537-D472-66E0-ACEA-2568BD3C4D59}"/>
              </a:ext>
            </a:extLst>
          </p:cNvPr>
          <p:cNvSpPr txBox="1"/>
          <p:nvPr/>
        </p:nvSpPr>
        <p:spPr>
          <a:xfrm>
            <a:off x="8601594" y="7081632"/>
            <a:ext cx="651905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8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Insight:</a:t>
            </a:r>
          </a:p>
          <a:p>
            <a:pPr algn="l">
              <a:lnSpc>
                <a:spcPts val="3300"/>
              </a:lnSpc>
            </a:pPr>
            <a:r>
              <a:rPr lang="en-US" sz="2800" dirty="0"/>
              <a:t>High ratings alone do not guarantee success. Hence, focus on strategy, not just quality</a:t>
            </a:r>
            <a:endParaRPr lang="en-US" sz="28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899" y="738774"/>
            <a:ext cx="18693799" cy="8809453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15055" y="3240759"/>
            <a:ext cx="10857890" cy="408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endParaRPr lang="en-US" sz="3294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Genre is the strongest driver of profitability 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Animation, Adventure, Fantasy dominate revenue 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Release timing significantly impacts success 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Ratings have minimal influence on revenue 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Industry growth driven by technology and streaming trends </a:t>
            </a:r>
          </a:p>
          <a:p>
            <a:pPr algn="ctr">
              <a:lnSpc>
                <a:spcPts val="4612"/>
              </a:lnSpc>
            </a:pPr>
            <a:endParaRPr lang="en-US" sz="3294" dirty="0">
              <a:solidFill>
                <a:srgbClr val="202020"/>
              </a:solidFill>
              <a:latin typeface="Times New Roman" panose="02020603050405020304" pitchFamily="18" charset="0"/>
              <a:ea typeface="Codec Pro"/>
              <a:cs typeface="Times New Roman" panose="02020603050405020304" pitchFamily="18" charset="0"/>
              <a:sym typeface="Codec Pr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9" name="AutoShape 9"/>
          <p:cNvSpPr/>
          <p:nvPr/>
        </p:nvSpPr>
        <p:spPr>
          <a:xfrm>
            <a:off x="13851816" y="9136697"/>
            <a:ext cx="721129" cy="0"/>
          </a:xfrm>
          <a:prstGeom prst="line">
            <a:avLst/>
          </a:prstGeom>
          <a:ln w="3810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4615755" y="82296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key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899" y="738774"/>
            <a:ext cx="18693799" cy="8809453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15055" y="3240759"/>
            <a:ext cx="10857890" cy="4670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0042" lvl="1" indent="-514350" algn="l">
              <a:lnSpc>
                <a:spcPts val="4612"/>
              </a:lnSpc>
              <a:buFont typeface="+mj-lt"/>
              <a:buAutoNum type="arabicPeriod"/>
            </a:pPr>
            <a:r>
              <a:rPr lang="en-US" sz="3294" b="1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Invest in high-performing</a:t>
            </a: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 </a:t>
            </a:r>
          </a:p>
          <a:p>
            <a:pPr marL="870042" lvl="1" indent="-514350" algn="l">
              <a:lnSpc>
                <a:spcPts val="4612"/>
              </a:lnSpc>
              <a:buFont typeface="Arial" panose="020B0604020202020204" pitchFamily="34" charset="0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genres: Animation, Adventure, Fantasy, </a:t>
            </a:r>
          </a:p>
          <a:p>
            <a:pPr marL="355692" lvl="1" algn="l">
              <a:lnSpc>
                <a:spcPts val="4612"/>
              </a:lnSpc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2. </a:t>
            </a:r>
            <a:r>
              <a:rPr lang="en-US" sz="3294" b="1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Schedule releases during:</a:t>
            </a:r>
          </a:p>
          <a:p>
            <a:pPr marL="812892" lvl="1" indent="-457200" algn="l">
              <a:lnSpc>
                <a:spcPts val="4612"/>
              </a:lnSpc>
              <a:buFont typeface="Arial" panose="020B0604020202020204" pitchFamily="34" charset="0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Summer (May–July), Holiday season (Nov–Dec)</a:t>
            </a:r>
          </a:p>
          <a:p>
            <a:pPr marL="355692" lvl="1" algn="l">
              <a:lnSpc>
                <a:spcPts val="4612"/>
              </a:lnSpc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3</a:t>
            </a:r>
            <a:r>
              <a:rPr lang="en-US" sz="3294" b="1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. Focus on: </a:t>
            </a:r>
          </a:p>
          <a:p>
            <a:pPr marL="812892" lvl="1" indent="-457200" algn="l">
              <a:lnSpc>
                <a:spcPts val="4612"/>
              </a:lnSpc>
              <a:buFont typeface="Arial" panose="020B0604020202020204" pitchFamily="34" charset="0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Strong marketing campaigns, Audience targeting strategies, High production quality.</a:t>
            </a:r>
          </a:p>
          <a:p>
            <a:pPr marL="355692" lvl="1" algn="l">
              <a:lnSpc>
                <a:spcPts val="4612"/>
              </a:lnSpc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4</a:t>
            </a:r>
            <a:r>
              <a:rPr lang="en-US" sz="3294" b="1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. Avoid relying solely on ratings as a success metric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9" name="AutoShape 9"/>
          <p:cNvSpPr/>
          <p:nvPr/>
        </p:nvSpPr>
        <p:spPr>
          <a:xfrm>
            <a:off x="13851816" y="9136697"/>
            <a:ext cx="721129" cy="0"/>
          </a:xfrm>
          <a:prstGeom prst="line">
            <a:avLst/>
          </a:prstGeom>
          <a:ln w="3810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4615755" y="82296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899" y="738774"/>
            <a:ext cx="18693799" cy="8809453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15055" y="3240759"/>
            <a:ext cx="10857890" cy="4681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Data analysis provides clear guidance for Tripple 7 to enter the movie industry.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Success depends on:</a:t>
            </a:r>
          </a:p>
          <a:p>
            <a:pPr marL="355692" lvl="1" algn="l">
              <a:lnSpc>
                <a:spcPts val="4612"/>
              </a:lnSpc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Choosing the right genre, Timing releases strategically, Understanding audience behavior</a:t>
            </a:r>
          </a:p>
          <a:p>
            <a:pPr marL="711385" lvl="1" indent="-355693" algn="l">
              <a:lnSpc>
                <a:spcPts val="4612"/>
              </a:lnSpc>
              <a:buFont typeface="Arial"/>
              <a:buChar char="•"/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By applying these insights, Tripple 7 can:</a:t>
            </a:r>
          </a:p>
          <a:p>
            <a:pPr marL="355692" lvl="1" algn="l">
              <a:lnSpc>
                <a:spcPts val="4612"/>
              </a:lnSpc>
            </a:pPr>
            <a:r>
              <a:rPr lang="en-US" sz="3294" dirty="0">
                <a:solidFill>
                  <a:srgbClr val="202020"/>
                </a:solidFill>
                <a:latin typeface="Times New Roman" panose="02020603050405020304" pitchFamily="18" charset="0"/>
                <a:ea typeface="Codec Pro"/>
                <a:cs typeface="Times New Roman" panose="02020603050405020304" pitchFamily="18" charset="0"/>
                <a:sym typeface="Codec Pro"/>
              </a:rPr>
              <a:t>Reduce financial risk, Increase profitability, Make data-driven decisions.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46397" y="110024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2000" b="1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Tripple 7</a:t>
            </a:r>
          </a:p>
        </p:txBody>
      </p:sp>
      <p:sp>
        <p:nvSpPr>
          <p:cNvPr id="9" name="AutoShape 9"/>
          <p:cNvSpPr/>
          <p:nvPr/>
        </p:nvSpPr>
        <p:spPr>
          <a:xfrm>
            <a:off x="13851816" y="9136697"/>
            <a:ext cx="721129" cy="0"/>
          </a:xfrm>
          <a:prstGeom prst="line">
            <a:avLst/>
          </a:prstGeom>
          <a:ln w="3810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4615755" y="82296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796470"/>
            <a:ext cx="1586756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000" b="1" spc="-162" dirty="0">
                <a:solidFill>
                  <a:srgbClr val="202020"/>
                </a:solidFill>
                <a:latin typeface="Times New Roman" panose="02020603050405020304" pitchFamily="18" charset="0"/>
                <a:ea typeface="Codec Pro Bold"/>
                <a:cs typeface="Times New Roman" panose="02020603050405020304" pitchFamily="18" charset="0"/>
                <a:sym typeface="Codec Pro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669</Words>
  <Application>Microsoft Office PowerPoint</Application>
  <PresentationFormat>Custom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Codec Pro</vt:lpstr>
      <vt:lpstr>Times New Roman</vt:lpstr>
      <vt:lpstr>Arial</vt:lpstr>
      <vt:lpstr>Codec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Clean Business Strategic Plan Presentation</dc:title>
  <dc:creator>KRICHA</dc:creator>
  <cp:lastModifiedBy>Sparkwave</cp:lastModifiedBy>
  <cp:revision>4</cp:revision>
  <dcterms:created xsi:type="dcterms:W3CDTF">2006-08-16T00:00:00Z</dcterms:created>
  <dcterms:modified xsi:type="dcterms:W3CDTF">2026-03-22T15:17:18Z</dcterms:modified>
  <dc:identifier>DAHEpLO_a8U</dc:identifier>
</cp:coreProperties>
</file>